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Inter" panose="020B0604020202020204" charset="0"/>
      <p:regular r:id="rId15"/>
      <p:bold r:id="rId16"/>
      <p:italic r:id="rId17"/>
      <p:boldItalic r:id="rId18"/>
    </p:embeddedFont>
    <p:embeddedFont>
      <p:font typeface="Inter Medium" panose="020B0604020202020204" charset="0"/>
      <p:regular r:id="rId19"/>
      <p:bold r:id="rId20"/>
      <p:italic r:id="rId21"/>
      <p:boldItalic r:id="rId22"/>
    </p:embeddedFont>
    <p:embeddedFont>
      <p:font typeface="Inter SemiBold" panose="020B0604020202020204" charset="0"/>
      <p:regular r:id="rId23"/>
      <p:bold r:id="rId24"/>
      <p:italic r:id="rId25"/>
      <p:boldItalic r:id="rId26"/>
    </p:embeddedFont>
    <p:embeddedFont>
      <p:font typeface="Plus Jakarta Sans" panose="020B060402020202020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B6A17B1-7E89-4009-AB1E-A96D06509C01}">
  <a:tblStyle styleId="{0B6A17B1-7E89-4009-AB1E-A96D06509C0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754" y="29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8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5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22.png"/><Relationship Id="rId9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4500" y="-1905000"/>
            <a:ext cx="476250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381250" y="4476750"/>
            <a:ext cx="47625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265928" y="1368559"/>
            <a:ext cx="4059466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 err="1">
                <a:solidFill>
                  <a:srgbClr val="0070C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SmartHire</a:t>
            </a:r>
            <a:r>
              <a:rPr lang="en-US" sz="4800" b="1" i="0" u="none" strike="noStrike" cap="none" dirty="0">
                <a:solidFill>
                  <a:srgbClr val="0070C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AI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819128" y="2510880"/>
            <a:ext cx="6762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An Agentic AI Assistant Reimagining the Recruitment Lifecycle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3023914" y="4050213"/>
            <a:ext cx="701543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RAG SOURCED               TOOL CALLING                     HUMAN-IN-THE-LOOP</a:t>
            </a:r>
            <a:endParaRPr dirty="0"/>
          </a:p>
        </p:txBody>
      </p:sp>
      <p:pic>
        <p:nvPicPr>
          <p:cNvPr id="89" name="Google Shape;89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91056" y="4069263"/>
            <a:ext cx="299115" cy="21544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86116" y="4050213"/>
            <a:ext cx="311497" cy="227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56851" y="4023074"/>
            <a:ext cx="411630" cy="254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/>
        </p:nvSpPr>
        <p:spPr>
          <a:xfrm>
            <a:off x="2909667" y="2900362"/>
            <a:ext cx="6372515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Recruitment Problem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3238500" y="3690937"/>
            <a:ext cx="5715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Why modern recruiting is bogged down in manual, administrative fatigue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678459"/>
            <a:ext cx="5143500" cy="2184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678459"/>
            <a:ext cx="5143500" cy="2184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334500" y="-1905000"/>
            <a:ext cx="47625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952500" y="571500"/>
            <a:ext cx="11001375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Recruitment Bottlenecks Today</a:t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762000" y="571500"/>
            <a:ext cx="57150" cy="39811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1438275" y="3068984"/>
            <a:ext cx="428053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Administrative Burden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1152525" y="3497609"/>
            <a:ext cx="4362450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Recruiters expend over 60% of their bandwidth on transactional and manual tasks: sifting through hundreds of repetitive resumes, tailoring outreach messages, rewriting job descriptions, and scheduling calls.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991350" y="3068984"/>
            <a:ext cx="4250531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Passive Legacy ATS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677025" y="3497609"/>
            <a:ext cx="4362450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Traditional Applicant Tracking Systems (ATS) act merely as passive data vaults. They require manual triggering, lack natural language semantics, and fail to provide intelligent insights, trends, or salary data contextually.</a:t>
            </a:r>
            <a:endParaRPr/>
          </a:p>
        </p:txBody>
      </p:sp>
      <p:pic>
        <p:nvPicPr>
          <p:cNvPr id="111" name="Google Shape;11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52525" y="3097559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77025" y="3097559"/>
            <a:ext cx="20002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/>
          <p:nvPr/>
        </p:nvSpPr>
        <p:spPr>
          <a:xfrm>
            <a:off x="2228850" y="2233612"/>
            <a:ext cx="7489518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 dirty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Solution: </a:t>
            </a:r>
            <a:r>
              <a:rPr lang="en-US" sz="4050" b="1" i="0" u="none" strike="noStrike" cap="none" dirty="0" err="1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SmartHire</a:t>
            </a:r>
            <a:r>
              <a:rPr lang="en-US" sz="4050" b="1" dirty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4050" b="1" i="0" u="none" strike="noStrike" cap="none" dirty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</a:t>
            </a:r>
            <a:endParaRPr dirty="0"/>
          </a:p>
        </p:txBody>
      </p:sp>
      <p:sp>
        <p:nvSpPr>
          <p:cNvPr id="118" name="Google Shape;118;p16"/>
          <p:cNvSpPr txBox="1"/>
          <p:nvPr/>
        </p:nvSpPr>
        <p:spPr>
          <a:xfrm>
            <a:off x="3238500" y="3690937"/>
            <a:ext cx="5715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conversational, multi-agent assistant designed to handle autonomous recruiting workflows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404020"/>
            <a:ext cx="3365450" cy="273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3200" y="2404020"/>
            <a:ext cx="3365450" cy="273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64400" y="2404020"/>
            <a:ext cx="3365599" cy="273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-2381250" y="4476750"/>
            <a:ext cx="47625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 txBox="1"/>
          <p:nvPr/>
        </p:nvSpPr>
        <p:spPr>
          <a:xfrm>
            <a:off x="952500" y="571500"/>
            <a:ext cx="11001375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Capability Pillars</a:t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762000" y="571500"/>
            <a:ext cx="57150" cy="39811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7275" y="274692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 txBox="1"/>
          <p:nvPr/>
        </p:nvSpPr>
        <p:spPr>
          <a:xfrm>
            <a:off x="1057275" y="3556545"/>
            <a:ext cx="2070258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Intelligent Sourcing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1057275" y="3937545"/>
            <a:ext cx="27749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Retrieves high-context, indexed candidate profile details semantically from local vector stores using advanced RAG pipelines.</a:t>
            </a:r>
            <a:endParaRPr/>
          </a:p>
        </p:txBody>
      </p:sp>
      <p:pic>
        <p:nvPicPr>
          <p:cNvPr id="132" name="Google Shape;132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08475" y="274692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4708475" y="3556545"/>
            <a:ext cx="2370296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Agentic Orchestration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4708475" y="3937545"/>
            <a:ext cx="27749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Uses intelligent routing, multi-agent pipelines, and context-aware logic to autonomously perform complex multi-step recruitment flows.</a:t>
            </a:r>
            <a:endParaRPr/>
          </a:p>
        </p:txBody>
      </p:sp>
      <p:pic>
        <p:nvPicPr>
          <p:cNvPr id="135" name="Google Shape;135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9675" y="274692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8359675" y="3556545"/>
            <a:ext cx="2230278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Human-in-the-Loop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8359675" y="3937545"/>
            <a:ext cx="277504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Ensures robust security and control by requiring explicit recruiter confirmation prior to execution of high-risk business triggers.</a:t>
            </a:r>
            <a:endParaRPr/>
          </a:p>
        </p:txBody>
      </p:sp>
      <p:pic>
        <p:nvPicPr>
          <p:cNvPr id="138" name="Google Shape;138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228725" y="291837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879925" y="291837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531125" y="2918370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53300" y="1770608"/>
            <a:ext cx="407670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34500" y="-1905000"/>
            <a:ext cx="47625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952500" y="571500"/>
            <a:ext cx="11001375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Autonomous Routing Architecture</a:t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762000" y="571500"/>
            <a:ext cx="57150" cy="39811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762000" y="1963489"/>
            <a:ext cx="611505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SmartHire AI functions as a cognitive orchestrator, analyzing incoming recruiter prompts and routing them to the optimal resource:</a:t>
            </a:r>
            <a:endParaRPr/>
          </a:p>
        </p:txBody>
      </p:sp>
      <p:pic>
        <p:nvPicPr>
          <p:cNvPr id="150" name="Google Shape;15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62825" y="1780133"/>
            <a:ext cx="4057650" cy="398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2710011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3742283"/>
            <a:ext cx="1333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4774555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1057275" y="2671911"/>
            <a:ext cx="58197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RAG / Vector Databases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1057275" y="2881461"/>
            <a:ext cx="5819775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Invoked for semantic, query-based candidate screening and deep profile extraction.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1038225" y="3704183"/>
            <a:ext cx="58388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Deterministic Computations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1038225" y="3913733"/>
            <a:ext cx="5838825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Calculates metrics, score cards, and matching values locally without prone-to-hallucination LLM logic.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1076325" y="4736455"/>
            <a:ext cx="58007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Live Web Queries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1076325" y="4946005"/>
            <a:ext cx="5800725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Performs real-time search engine sweeps to fetch current salary ranges and competitor trends.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/>
          <p:nvPr/>
        </p:nvSpPr>
        <p:spPr>
          <a:xfrm>
            <a:off x="952500" y="571500"/>
            <a:ext cx="5150643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Semantic Resume Screening</a:t>
            </a:r>
            <a:endParaRPr/>
          </a:p>
        </p:txBody>
      </p:sp>
      <p:sp>
        <p:nvSpPr>
          <p:cNvPr id="165" name="Google Shape;165;p19"/>
          <p:cNvSpPr/>
          <p:nvPr/>
        </p:nvSpPr>
        <p:spPr>
          <a:xfrm>
            <a:off x="762000" y="571500"/>
            <a:ext cx="57150" cy="39811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762000" y="2644229"/>
            <a:ext cx="5350668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Going Beyond Keyword Searching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762000" y="3149054"/>
            <a:ext cx="509587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Traditional parsers fail when CV keywords don't match. SmartHire AI translates entire applicant files into vector embeddings, matching skills contextually.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762000" y="4023270"/>
            <a:ext cx="509587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Using a dense vector search model, the engine ranks candidates based on experience depth, technical capabilities, and hidden potential, drastically reducing evaluation bias.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92485" y="2627858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66195" y="2627858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39905" y="2627858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113615" y="2627858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-2381250" y="4476750"/>
            <a:ext cx="476250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295400" y="3104108"/>
            <a:ext cx="80010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952500" y="571500"/>
            <a:ext cx="11001375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End-to-End Agentic Workflow</a:t>
            </a:r>
            <a:endParaRPr/>
          </a:p>
        </p:txBody>
      </p:sp>
      <p:sp>
        <p:nvSpPr>
          <p:cNvPr id="181" name="Google Shape;181;p20"/>
          <p:cNvSpPr/>
          <p:nvPr/>
        </p:nvSpPr>
        <p:spPr>
          <a:xfrm>
            <a:off x="762000" y="571500"/>
            <a:ext cx="57150" cy="39811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1045249" y="3151733"/>
            <a:ext cx="178022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Semantic Screening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857250" y="3466058"/>
            <a:ext cx="2156370" cy="346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Retrieves matches from CV database using Vector search.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3873966" y="3151733"/>
            <a:ext cx="167020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Live Benchmarking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3630959" y="3466058"/>
            <a:ext cx="2156370" cy="346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Performs live web queries for competitive salary metrics.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6597669" y="3151733"/>
            <a:ext cx="177022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Generate Questions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6404669" y="3466058"/>
            <a:ext cx="2156370" cy="346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Drafts high-quality technical interviewing rubrics.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9431387" y="3151733"/>
            <a:ext cx="165020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Recruiter Approval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9178379" y="3466058"/>
            <a:ext cx="2156370" cy="346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Human reviews draft and authorizes candidate contact.</a:t>
            </a:r>
            <a:endParaRPr/>
          </a:p>
        </p:txBody>
      </p:sp>
      <p:sp>
        <p:nvSpPr>
          <p:cNvPr id="190" name="Google Shape;190;p20"/>
          <p:cNvSpPr/>
          <p:nvPr/>
        </p:nvSpPr>
        <p:spPr>
          <a:xfrm>
            <a:off x="1295400" y="3104108"/>
            <a:ext cx="96012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255365"/>
            <a:ext cx="10668000" cy="5031134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952500" y="571500"/>
            <a:ext cx="11001375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Efficiency Gains: Slashed Hours</a:t>
            </a:r>
            <a:endParaRPr/>
          </a:p>
        </p:txBody>
      </p:sp>
      <p:sp>
        <p:nvSpPr>
          <p:cNvPr id="197" name="Google Shape;197;p21"/>
          <p:cNvSpPr/>
          <p:nvPr/>
        </p:nvSpPr>
        <p:spPr>
          <a:xfrm>
            <a:off x="762000" y="571500"/>
            <a:ext cx="57150" cy="39811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2"/>
          <p:cNvSpPr txBox="1"/>
          <p:nvPr/>
        </p:nvSpPr>
        <p:spPr>
          <a:xfrm>
            <a:off x="952500" y="571500"/>
            <a:ext cx="11001375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Recruiter Allocation Reimagined</a:t>
            </a:r>
            <a:endParaRPr/>
          </a:p>
        </p:txBody>
      </p:sp>
      <p:sp>
        <p:nvSpPr>
          <p:cNvPr id="203" name="Google Shape;203;p22"/>
          <p:cNvSpPr/>
          <p:nvPr/>
        </p:nvSpPr>
        <p:spPr>
          <a:xfrm>
            <a:off x="762000" y="571500"/>
            <a:ext cx="57150" cy="39811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76437" y="2437358"/>
            <a:ext cx="2667000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2"/>
          <p:cNvSpPr/>
          <p:nvPr/>
        </p:nvSpPr>
        <p:spPr>
          <a:xfrm>
            <a:off x="6334125" y="3099345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2"/>
          <p:cNvSpPr txBox="1"/>
          <p:nvPr/>
        </p:nvSpPr>
        <p:spPr>
          <a:xfrm>
            <a:off x="6677025" y="3118395"/>
            <a:ext cx="24574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Relationship &amp; Placement Strategy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11087100" y="3118395"/>
            <a:ext cx="3429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55%</a:t>
            </a:r>
            <a:endParaRPr/>
          </a:p>
        </p:txBody>
      </p:sp>
      <p:sp>
        <p:nvSpPr>
          <p:cNvPr id="208" name="Google Shape;208;p22"/>
          <p:cNvSpPr/>
          <p:nvPr/>
        </p:nvSpPr>
        <p:spPr>
          <a:xfrm>
            <a:off x="6334125" y="3470820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 txBox="1"/>
          <p:nvPr/>
        </p:nvSpPr>
        <p:spPr>
          <a:xfrm>
            <a:off x="6677025" y="3489870"/>
            <a:ext cx="15811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Interviews &amp; Selection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11087100" y="3489870"/>
            <a:ext cx="3429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25%</a:t>
            </a:r>
            <a:endParaRPr/>
          </a:p>
        </p:txBody>
      </p:sp>
      <p:sp>
        <p:nvSpPr>
          <p:cNvPr id="211" name="Google Shape;211;p22"/>
          <p:cNvSpPr/>
          <p:nvPr/>
        </p:nvSpPr>
        <p:spPr>
          <a:xfrm>
            <a:off x="6334125" y="3842295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6677025" y="3861345"/>
            <a:ext cx="23145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Collaborative Strategy Meetings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11115675" y="3861345"/>
            <a:ext cx="3143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15%</a:t>
            </a:r>
            <a:endParaRPr/>
          </a:p>
        </p:txBody>
      </p:sp>
      <p:sp>
        <p:nvSpPr>
          <p:cNvPr id="214" name="Google Shape;214;p22"/>
          <p:cNvSpPr/>
          <p:nvPr/>
        </p:nvSpPr>
        <p:spPr>
          <a:xfrm>
            <a:off x="6334125" y="4213770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 txBox="1"/>
          <p:nvPr/>
        </p:nvSpPr>
        <p:spPr>
          <a:xfrm>
            <a:off x="6677025" y="4232820"/>
            <a:ext cx="1524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Admin/Data Tracking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11182350" y="4232820"/>
            <a:ext cx="2476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5%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417415"/>
            <a:ext cx="10668000" cy="807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34500" y="-1905000"/>
            <a:ext cx="47625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3"/>
          <p:cNvSpPr txBox="1"/>
          <p:nvPr/>
        </p:nvSpPr>
        <p:spPr>
          <a:xfrm>
            <a:off x="952500" y="571500"/>
            <a:ext cx="11001375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Semantic RAG Similarity Model</a:t>
            </a:r>
            <a:endParaRPr/>
          </a:p>
        </p:txBody>
      </p:sp>
      <p:sp>
        <p:nvSpPr>
          <p:cNvPr id="224" name="Google Shape;224;p23"/>
          <p:cNvSpPr/>
          <p:nvPr/>
        </p:nvSpPr>
        <p:spPr>
          <a:xfrm>
            <a:off x="762000" y="571500"/>
            <a:ext cx="57150" cy="39811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3"/>
          <p:cNvSpPr txBox="1"/>
          <p:nvPr/>
        </p:nvSpPr>
        <p:spPr>
          <a:xfrm>
            <a:off x="762000" y="1887884"/>
            <a:ext cx="10668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matching accuracy between a candidate profile vector and the JD vector is determined by </a:t>
            </a: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Cosine Similarity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/>
          </a:p>
        </p:txBody>
      </p:sp>
      <p:sp>
        <p:nvSpPr>
          <p:cNvPr id="226" name="Google Shape;226;p23"/>
          <p:cNvSpPr/>
          <p:nvPr/>
        </p:nvSpPr>
        <p:spPr>
          <a:xfrm>
            <a:off x="762000" y="3558331"/>
            <a:ext cx="10668000" cy="20955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7" name="Google Shape;227;p23"/>
          <p:cNvGraphicFramePr/>
          <p:nvPr/>
        </p:nvGraphicFramePr>
        <p:xfrm>
          <a:off x="762000" y="3558331"/>
          <a:ext cx="10658500" cy="2095500"/>
        </p:xfrm>
        <a:graphic>
          <a:graphicData uri="http://schemas.openxmlformats.org/drawingml/2006/table">
            <a:tbl>
              <a:tblPr firstRow="1" bandRow="1">
                <a:noFill/>
                <a:tableStyleId>{0B6A17B1-7E89-4009-AB1E-A96D06509C01}</a:tableStyleId>
              </a:tblPr>
              <a:tblGrid>
                <a:gridCol w="364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8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3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1E293B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Trigger Scenario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1E293B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Core Agent Routing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1E293B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Executed Tool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1E293B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Status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Compare python resumes to job brief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Semantic Context Match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RAG DB Tool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Auto</a:t>
                      </a:r>
                      <a:endParaRPr/>
                    </a:p>
                  </a:txBody>
                  <a:tcPr marL="2476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Lookup local DevOps salary ranges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Real-time Web Sourcing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Web Search Engine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Auto</a:t>
                      </a:r>
                      <a:endParaRPr/>
                    </a:p>
                  </a:txBody>
                  <a:tcPr marL="2476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Send interview invites &amp; offer drafts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High-Stakes Dispatch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Email Gateway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HITL Confirmed</a:t>
                      </a:r>
                      <a:endParaRPr/>
                    </a:p>
                  </a:txBody>
                  <a:tcPr marL="2857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28" name="Google Shape;228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82417" y="2655540"/>
            <a:ext cx="3027015" cy="331291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3"/>
          <p:cNvSpPr/>
          <p:nvPr/>
        </p:nvSpPr>
        <p:spPr>
          <a:xfrm>
            <a:off x="766762" y="4572744"/>
            <a:ext cx="364628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4413051" y="4572744"/>
            <a:ext cx="2630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7043291" y="4572744"/>
            <a:ext cx="221887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9262169" y="4572744"/>
            <a:ext cx="216306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766762" y="5106144"/>
            <a:ext cx="364628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4413051" y="5106144"/>
            <a:ext cx="2630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7043291" y="5106144"/>
            <a:ext cx="221887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9262169" y="5106144"/>
            <a:ext cx="216306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490769" y="5320456"/>
            <a:ext cx="1714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490769" y="4787056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490769" y="4253656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271891" y="4206031"/>
            <a:ext cx="8858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490769" y="4253656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271891" y="4739431"/>
            <a:ext cx="12382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490769" y="4787056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271891" y="5272831"/>
            <a:ext cx="1000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490769" y="5320456"/>
            <a:ext cx="171450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553E1-1AEA-AC97-1ACF-466EB6724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79713"/>
            <a:ext cx="8229600" cy="1143000"/>
          </a:xfrm>
        </p:spPr>
        <p:txBody>
          <a:bodyPr/>
          <a:lstStyle/>
          <a:p>
            <a:r>
              <a:rPr lang="en-IN" b="1" dirty="0"/>
              <a:t>THANK YOU !!</a:t>
            </a:r>
          </a:p>
        </p:txBody>
      </p:sp>
    </p:spTree>
    <p:extLst>
      <p:ext uri="{BB962C8B-B14F-4D97-AF65-F5344CB8AC3E}">
        <p14:creationId xmlns:p14="http://schemas.microsoft.com/office/powerpoint/2010/main" val="2481463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461</Words>
  <Application>Microsoft Office PowerPoint</Application>
  <PresentationFormat>Widescreen</PresentationFormat>
  <Paragraphs>69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Inter Medium</vt:lpstr>
      <vt:lpstr>Plus Jakarta Sans</vt:lpstr>
      <vt:lpstr>Inter SemiBold</vt:lpstr>
      <vt:lpstr>Inter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Harsitha Koduri</cp:lastModifiedBy>
  <cp:revision>2</cp:revision>
  <dcterms:modified xsi:type="dcterms:W3CDTF">2026-07-05T02:48:19Z</dcterms:modified>
</cp:coreProperties>
</file>